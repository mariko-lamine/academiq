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D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059936"/>
            <a:ext cx="12191695" cy="10972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ACADEMIQ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402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BDD7F5"/>
                </a:solidFill>
              </a:rPr>
              <a:t>Rapport de Projet de Fin d'Etudes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BC1E8"/>
                </a:solidFill>
              </a:rPr>
              <a:t>Conception &amp; Implementation d'un Systeme Centralise de Gestion des Activites Scolaires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297680"/>
            <a:ext cx="2011680" cy="13716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315968"/>
            <a:ext cx="20116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0235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BF4FF"/>
                </a:solidFill>
              </a:rPr>
              <a:t>Tables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4297680"/>
            <a:ext cx="2011680" cy="13716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4315968"/>
            <a:ext cx="20116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59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510235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BF4FF"/>
                </a:solidFill>
              </a:rPr>
              <a:t>Regles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4297680"/>
            <a:ext cx="2011680" cy="13716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315968"/>
            <a:ext cx="20116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10235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BF4FF"/>
                </a:solidFill>
              </a:rPr>
              <a:t>Roles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4297680"/>
            <a:ext cx="2011680" cy="13716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4315968"/>
            <a:ext cx="20116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510235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BF4FF"/>
                </a:solidFill>
              </a:rPr>
              <a:t>Modules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FA8CC"/>
                </a:solidFill>
              </a:rPr>
              <a:t>MARIKO Lamine  |  CI0223065023  |  M1 Genie Informatique  |  Univ. Nangui Abrogoua  |  Juin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Sommaire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914400" cy="47548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9844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07592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Introduction et Contexte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84248"/>
            <a:ext cx="914400" cy="47548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048255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05740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Analyse et Specification des Besoins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34056"/>
            <a:ext cx="914400" cy="47548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798063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80720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Conception du Systeme (Methode Merise)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483863"/>
            <a:ext cx="914400" cy="47548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547871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557015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Implementation et Developpement (Django)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233672"/>
            <a:ext cx="914400" cy="47548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2976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306824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Tests, Validation et Resultats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983480"/>
            <a:ext cx="914400" cy="47548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504748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VI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5056632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Conclusion et Perspectives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I. Contexte et Problematique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Situation actuelle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Objectif du projet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81328"/>
            <a:ext cx="11430000" cy="3200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8191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3333"/>
                </a:solidFill>
              </a:rPr>
              <a:t>•  Notes dans des cahiers de texte individuels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8191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7A33"/>
                </a:solidFill>
              </a:rPr>
              <a:t>✔  Centraliser toutes les donnees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842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3333"/>
                </a:solidFill>
              </a:rPr>
              <a:t>•  Absences sur fiches papier circulantes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842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7A33"/>
                </a:solidFill>
              </a:rPr>
              <a:t>✔  Calculer automatiquement moyennes et rangs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38658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3333"/>
                </a:solidFill>
              </a:rPr>
              <a:t>•  Bulletins produits manuellement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8658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7A33"/>
                </a:solidFill>
              </a:rPr>
              <a:t>✔  Generer les bulletins PDF en 1 clic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788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3333"/>
                </a:solidFill>
              </a:rPr>
              <a:t>•  Distribution 2 a 3 semaines apres la cloture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788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7A33"/>
                </a:solidFill>
              </a:rPr>
              <a:t>✔  Notifier les parents en temps reel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19125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3333"/>
                </a:solidFill>
              </a:rPr>
              <a:t>•  Aucune traçabilite des modifications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19125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7A33"/>
                </a:solidFill>
              </a:rPr>
              <a:t>✔  Garantir la traçabilite de chaque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593591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3333"/>
                </a:solidFill>
              </a:rPr>
              <a:t>•  Communication orale non structuree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593591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7A33"/>
                </a:solidFill>
              </a:rPr>
              <a:t>✔  Securiser les acces par 7 roles cloisonnes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II. Les 7 Roles Utilisateurs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2560320" cy="4572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161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DIRECTION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63240" y="1225296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Acces total : gestion comptes, annees scolaires, historique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73352"/>
            <a:ext cx="2560320" cy="45720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74650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ADMINISTRATION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755648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Cours, emplois du temps, salles, matieres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03704"/>
            <a:ext cx="256032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27685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SCOLARITE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28600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Inscriptions, absences, generation et export bulletins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734056"/>
            <a:ext cx="2560320" cy="457200"/>
          </a:xfrm>
          <a:prstGeom prst="rect">
            <a:avLst/>
          </a:prstGeom>
          <a:solidFill>
            <a:srgbClr val="1A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80720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FINANCES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2816352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Tarifs, paiements, export bilan financier PDF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264408"/>
            <a:ext cx="2560320" cy="457200"/>
          </a:xfrm>
          <a:prstGeom prst="rect">
            <a:avLst/>
          </a:prstGeom>
          <a:solidFill>
            <a:srgbClr val="6B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3375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ENSEIGNANT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3346704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Notes et absences pour ses propres cours uniquement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794760"/>
            <a:ext cx="2560320" cy="457200"/>
          </a:xfrm>
          <a:prstGeom prst="rect">
            <a:avLst/>
          </a:prstGeom>
          <a:solidFill>
            <a:srgbClr val="4A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86791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ELEVE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877056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Consultation de son propre dossier (notes, bulletins, EDT)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325112"/>
            <a:ext cx="2560320" cy="457200"/>
          </a:xfrm>
          <a:prstGeom prst="rect">
            <a:avLst/>
          </a:prstGeom>
          <a:solidFill>
            <a:srgbClr val="1A4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39826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PARENT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4407408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Consultation du dossier de ses enfants, messagerie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II. Matrice des Permissions (extrait)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241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C5282"/>
                </a:solidFill>
              </a:rPr>
              <a:t>C=Creer  L=Lire  M=Modifier  S=Supprimer  —=Aucun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1161288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1610"/>
                <a:gridCol w="1451610"/>
                <a:gridCol w="1451610"/>
                <a:gridCol w="1451610"/>
                <a:gridCol w="1451610"/>
                <a:gridCol w="1451610"/>
                <a:gridCol w="1451610"/>
                <a:gridCol w="1451610"/>
              </a:tblGrid>
              <a:tr h="574040">
                <a:tc>
                  <a:txBody>
                    <a:bodyPr/>
                    <a:lstStyle/>
                    <a:p>
                      <a:pPr algn="ctr"/>
                      <a:r>
                        <a:rPr b="1" sz="850">
                          <a:solidFill>
                            <a:srgbClr val="FFFFFF"/>
                          </a:solidFill>
                        </a:rPr>
                        <a:t>Fonction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50">
                          <a:solidFill>
                            <a:srgbClr val="FFFFFF"/>
                          </a:solidFill>
                        </a:rPr>
                        <a:t>DIR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50">
                          <a:solidFill>
                            <a:srgbClr val="FFFFFF"/>
                          </a:solidFill>
                        </a:rPr>
                        <a:t>ADM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50">
                          <a:solidFill>
                            <a:srgbClr val="FFFFFF"/>
                          </a:solidFill>
                        </a:rPr>
                        <a:t>SCO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50">
                          <a:solidFill>
                            <a:srgbClr val="FFFFFF"/>
                          </a:solidFill>
                        </a:rPr>
                        <a:t>FIN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50">
                          <a:solidFill>
                            <a:srgbClr val="FFFFFF"/>
                          </a:solidFill>
                        </a:rPr>
                        <a:t>ENS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50">
                          <a:solidFill>
                            <a:srgbClr val="FFFFFF"/>
                          </a:solidFill>
                        </a:rPr>
                        <a:t>ELEV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50">
                          <a:solidFill>
                            <a:srgbClr val="FFFFFF"/>
                          </a:solidFill>
                        </a:rPr>
                        <a:t>PAR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Annees scolaires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CLMS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Cours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CLMS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CLMS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L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L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L(siens)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Saisie notes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CLM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Consultation notes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LM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L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L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L(siens)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L(siennes)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L(enf.)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Absences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CLMS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CLM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CLM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L(enf.)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Bulletins PDF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CL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L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CL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L(elev)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L(sien)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L(enf.)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Paiements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CLMS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CLMS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L(enf.)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Messagerie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CLM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CLM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CLM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CLM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CLM(tous)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CLM(pers)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CLM(pers)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II. Regles de Gestion — Extrait (59 au total)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1612880" cy="553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425547">
                <a:tc>
                  <a:txBody>
                    <a:bodyPr/>
                    <a:lstStyle/>
                    <a:p>
                      <a:pPr algn="ctr"/>
                      <a:r>
                        <a:rPr b="1" sz="850">
                          <a:solidFill>
                            <a:srgbClr val="FFFFFF"/>
                          </a:solidFill>
                        </a:rPr>
                        <a:t>Code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50">
                          <a:solidFill>
                            <a:srgbClr val="FFFFFF"/>
                          </a:solidFill>
                        </a:rPr>
                        <a:t>Domaine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50">
                          <a:solidFill>
                            <a:srgbClr val="FFFFFF"/>
                          </a:solidFill>
                        </a:rPr>
                        <a:t>Regle de gestion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425547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RG-T02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Temporel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Une seule ANNEE_SCOLAIRE active a la fois (signal pre_save Django)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5547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RG-C03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Classe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Un ELEVE dans 1 seule CLASSE par ANNEE — UNIQUE(eleve_id, annee_id)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</a:tr>
              <a:tr h="425547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RG-N03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Note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Valeur NOTE obligatoirement dans [0 ; 20] — contrainte CHECK SQL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5547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RG-N06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Note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Saisie bloquee si PERIODE.cloturee = True (verification dans la vue)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</a:tr>
              <a:tr h="425547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RG-M06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Moyenne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RESULTAT_MATIERE alimente par signaux uniquement — aucune saisie directe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5547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RG-AB02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Absence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Validation des absences : competence de l'ENSEIGNANT titulaire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</a:tr>
              <a:tr h="425547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RG-AB06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Absence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Seuil 20h absences non justifiees : NOTIFICATION automatique envoyee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5547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RG-B01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Bulletin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Un seul BULLETIN par (ELEVE, PERIODE) — UNIQUE constraint en base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</a:tr>
              <a:tr h="425547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RG-B02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Bulletin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Generation possible uniquement apres cloture de la PERIODE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5547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RG-FIN09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Finance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Export PDF bilan financier accessible a FINANCES et DIRECTION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</a:tr>
              <a:tr h="425547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RG-MSG03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Messagerie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ENSEIGNANT peut ecrire a tout utilisateur actif (y compris ELEVE)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5556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RG-A03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Securite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Acces non autorise : message d'erreur explicite + redirect dashboard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III. Architecture Trois Couches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47120" cy="13258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COUCHE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099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5D8EC"/>
                </a:solidFill>
              </a:rPr>
              <a:t>Navigateur web   HTML5 + CSS3   Bootstrap 5 + Chart.js   Rendu cote serveur (pas de SPA)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743200"/>
            <a:ext cx="11247120" cy="132588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COUCHE APPLICATIVE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101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5D8EC"/>
                </a:solidFill>
              </a:rPr>
              <a:t>Django 4.x (Python)   Routing . Vues FBV . Templates . Signaux . Permissions . ReportLab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343400"/>
            <a:ext cx="11247120" cy="13258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434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COUCHE DONNEES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103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5D8EC"/>
                </a:solidFill>
              </a:rPr>
              <a:t>MariaDB 10.x InnoDB   24 tables . 95 attributs . 38 cles FK . Transactions ACID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0" y="4041648"/>
            <a:ext cx="1371600" cy="2560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407822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HTTP / HTTPS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4960" y="5641848"/>
            <a:ext cx="1371600" cy="2560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4960" y="567842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ORM Django (SQL)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III. Methode Merise — Demarche Adoptee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474720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MCD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57400"/>
            <a:ext cx="3474720" cy="256032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Modele Conceptuel de Donnees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Entites, associations, cardinalites.
Independant de tout SGBD.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188720"/>
            <a:ext cx="3474720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2344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MLD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2057400"/>
            <a:ext cx="3474720" cy="256032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2148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Modele Logique de Donnees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265176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Tables, cles primaires et etrangeres.
Passage Merise formalise.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1188720"/>
            <a:ext cx="3474720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2344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MPD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2057400"/>
            <a:ext cx="3474720" cy="256032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148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Modele Physique de Donnees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65176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Script SQL MariaDB/InnoDB.
Types, contraintes, index, UNIQUE.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77639" y="1481328"/>
            <a:ext cx="457200" cy="25603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77639" y="1499616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&gt;&gt;&gt;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09560" y="1481328"/>
            <a:ext cx="457200" cy="25603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09560" y="1499616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&gt;&gt;&gt;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8006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Justification du choix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166360"/>
            <a:ext cx="11430000" cy="3200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212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7A33"/>
                </a:solidFill>
              </a:rPr>
              <a:t>✔  Rigueur : demarche structuree garantissant la coherence avant toute implementation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212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7A33"/>
                </a:solidFill>
              </a:rPr>
              <a:t>✔  Independance technologique : le MLD est produit independamment du SGBD cible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212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7A33"/>
                </a:solidFill>
              </a:rPr>
              <a:t>✔  Normalisation : la demarche Merise conduit naturellement a un schema en 3FN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23036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7A33"/>
                </a:solidFill>
              </a:rPr>
              <a:t>✔  Rigueur : demarche structuree garantissant la coherence avant toute implementation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623559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7A33"/>
                </a:solidFill>
              </a:rPr>
              <a:t>✔  Independance technologique : le MLD est produit independamment du SGBD cible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016751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7A33"/>
                </a:solidFill>
              </a:rPr>
              <a:t>✔  Normalisation : la demarche Merise conduit naturellement a un schema en 3FN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III. Les 24 Entites — 6 Domaines Fonctionnels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097280"/>
            <a:ext cx="3657600" cy="4114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15214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Referentiel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527048"/>
            <a:ext cx="3657600" cy="338328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7276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3A5C"/>
                </a:solidFill>
              </a:rPr>
              <a:t>PERSONNE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874519"/>
            <a:ext cx="3657600" cy="338328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920239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3A5C"/>
                </a:solidFill>
              </a:rPr>
              <a:t>PERSONNEL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2221991"/>
            <a:ext cx="3657600" cy="338328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267711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3A5C"/>
                </a:solidFill>
              </a:rPr>
              <a:t>ENSEIGNANT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2569463"/>
            <a:ext cx="3657600" cy="338328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615183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3A5C"/>
                </a:solidFill>
              </a:rPr>
              <a:t>ELEVE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2916935"/>
            <a:ext cx="3657600" cy="338328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962655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3A5C"/>
                </a:solidFill>
              </a:rPr>
              <a:t>PARENT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264407"/>
            <a:ext cx="3657600" cy="338328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310127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3A5C"/>
                </a:solidFill>
              </a:rPr>
              <a:t>LIEN_PE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1097280"/>
            <a:ext cx="3657600" cy="41148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115214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Pedagogique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1527048"/>
            <a:ext cx="3657600" cy="338328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157276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3A5C"/>
                </a:solidFill>
              </a:rPr>
              <a:t>ANNEE_SCOLAIRE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1874519"/>
            <a:ext cx="3657600" cy="338328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1920239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3A5C"/>
                </a:solidFill>
              </a:rPr>
              <a:t>PERIODE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2221991"/>
            <a:ext cx="3657600" cy="338328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2267711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3A5C"/>
                </a:solidFill>
              </a:rPr>
              <a:t>CLASSE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2569463"/>
            <a:ext cx="3657600" cy="338328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40" y="2615183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3A5C"/>
                </a:solidFill>
              </a:rPr>
              <a:t>SALLE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0" y="2916935"/>
            <a:ext cx="3657600" cy="338328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40" y="2962655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3A5C"/>
                </a:solidFill>
              </a:rPr>
              <a:t>MATIERE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80" y="3264407"/>
            <a:ext cx="3657600" cy="338328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34840" y="3310127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3A5C"/>
                </a:solidFill>
              </a:rPr>
              <a:t>COURS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80" y="3611879"/>
            <a:ext cx="3657600" cy="338328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40" y="3657599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3A5C"/>
                </a:solidFill>
              </a:rPr>
              <a:t>EDT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66760" y="1097280"/>
            <a:ext cx="3657600" cy="4114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66760" y="115214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Scolarite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66760" y="1527048"/>
            <a:ext cx="3657600" cy="338328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03920" y="157276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3A5C"/>
                </a:solidFill>
              </a:rPr>
              <a:t>INSCRIPTION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" y="3474720"/>
            <a:ext cx="3657600" cy="411480"/>
          </a:xfrm>
          <a:prstGeom prst="rect">
            <a:avLst/>
          </a:prstGeom>
          <a:solidFill>
            <a:srgbClr val="1A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8600" y="352958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Evaluation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" y="3904487"/>
            <a:ext cx="3657600" cy="338328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950207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3A5C"/>
                </a:solidFill>
              </a:rPr>
              <a:t>NOTE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" y="4251959"/>
            <a:ext cx="3657600" cy="338328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4297679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3A5C"/>
                </a:solidFill>
              </a:rPr>
              <a:t>RESULTAT_MATIERE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8600" y="4599431"/>
            <a:ext cx="3657600" cy="338328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4645151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3A5C"/>
                </a:solidFill>
              </a:rPr>
              <a:t>BULLETIN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" y="4946903"/>
            <a:ext cx="3657600" cy="338328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4992623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3A5C"/>
                </a:solidFill>
              </a:rPr>
              <a:t>ABSENCE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97680" y="3474720"/>
            <a:ext cx="3657600" cy="411480"/>
          </a:xfrm>
          <a:prstGeom prst="rect">
            <a:avLst/>
          </a:prstGeom>
          <a:solidFill>
            <a:srgbClr val="8B4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97680" y="352958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Finances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97680" y="3904487"/>
            <a:ext cx="3657600" cy="338328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34840" y="3950207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3A5C"/>
                </a:solidFill>
              </a:rPr>
              <a:t>TARIF_NIVEAU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97680" y="4251959"/>
            <a:ext cx="3657600" cy="338328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34840" y="4297679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3A5C"/>
                </a:solidFill>
              </a:rPr>
              <a:t>FRAIS_SCOLARITE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297680" y="4599431"/>
            <a:ext cx="3657600" cy="338328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434840" y="4645151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3A5C"/>
                </a:solidFill>
              </a:rPr>
              <a:t>PAIEMENT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366760" y="3474720"/>
            <a:ext cx="3657600" cy="411480"/>
          </a:xfrm>
          <a:prstGeom prst="rect">
            <a:avLst/>
          </a:prstGeom>
          <a:solidFill>
            <a:srgbClr val="4A1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66760" y="352958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Communication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366760" y="3904487"/>
            <a:ext cx="3657600" cy="338328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03920" y="3950207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3A5C"/>
                </a:solidFill>
              </a:rPr>
              <a:t>MESSAGE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366760" y="4251959"/>
            <a:ext cx="3657600" cy="338328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503920" y="4297679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3A5C"/>
                </a:solidFill>
              </a:rPr>
              <a:t>NOTIFICATION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366760" y="4599431"/>
            <a:ext cx="3657600" cy="338328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503920" y="4645151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3A5C"/>
                </a:solidFill>
              </a:rPr>
              <a:t>EVENEMENT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366760" y="4946903"/>
            <a:ext cx="3657600" cy="338328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503920" y="4992623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3A5C"/>
                </a:solidFill>
              </a:rPr>
              <a:t>HISTORIQUE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III. MLD — Contraintes Cles (38 FK, 12 UNIQUE composites)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1612880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429064">
                <a:tc>
                  <a:txBody>
                    <a:bodyPr/>
                    <a:lstStyle/>
                    <a:p>
                      <a:pPr algn="ctr"/>
                      <a:r>
                        <a:rPr b="1" sz="850">
                          <a:solidFill>
                            <a:srgbClr val="FFFFFF"/>
                          </a:solidFill>
                        </a:rPr>
                        <a:t>Table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50">
                          <a:solidFill>
                            <a:srgbClr val="FFFFFF"/>
                          </a:solidFill>
                        </a:rPr>
                        <a:t>Cles et contraintes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50">
                          <a:solidFill>
                            <a:srgbClr val="FFFFFF"/>
                          </a:solidFill>
                        </a:rPr>
                        <a:t>Politique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4290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COURS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UNIQUE(matiere_id, classe_id, annee_id)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RESTRICT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0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INSCRIPTION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UNIQUE(eleve_id, annee_id)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RESTRICT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</a:tr>
              <a:tr h="4290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NOTE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CHECK(valeur &gt;= 0 AND valeur &lt;= 20)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0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RESULTAT_MAT.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UNIQUE(eleve_id, cours_id, periode_id)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RESTRICT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</a:tr>
              <a:tr h="4290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BULLETIN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UNIQUE(eleve_id, periode_id)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RESTRICT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0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EMPLOI DU TEMPS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UNIQUE(salle_id, periode_id, jour, heure_debut)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RESTRICT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</a:tr>
              <a:tr h="4290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FRAIS_SCOL.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UNIQUE(eleve_id, annee_id)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RESTRICT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0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PAIEMENT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recu_numero UNIQUE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RESTRICT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</a:tr>
              <a:tr h="4290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TARIF_NIVEAU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UNIQUE(niveau, annee_id)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RESTRICT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0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HISTORIQUE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auteur_id FK -&gt; PERSONNE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SET NULL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</a:tr>
              <a:tr h="4290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NOTIFICATION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classe_id FK -&gt; CLASSE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SET 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072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LIEN_PE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UNIQUE(parent_id, eleve_id)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RESTRICT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IV. Modele Utilisateur Personnalise (AbstractBaseUser)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Pourquoi AbstractBaseUser 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81328"/>
            <a:ext cx="11430000" cy="3200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•  Email comme identifiant de connexion (USERNAME_FIELD = "email")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56816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•  Tous les acteurs dans une seule table PERSONNE — simplifie les jointures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5915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•  Champs supplementaires : nom, prenom, photo_profil, actif directement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6148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•  Compatibilite parfaite avec le modele Merise (PERSONNE = super-entite)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63824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•  Choix irreversible — doit etre fait avant la premiere migration Django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749039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Configuration :   AUTH_USER_MODEL = "core.Personne"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114800"/>
            <a:ext cx="11430000" cy="3200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74320" y="4206240"/>
          <a:ext cx="116128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850">
                          <a:solidFill>
                            <a:srgbClr val="FFFFFF"/>
                          </a:solidFill>
                        </a:rPr>
                        <a:t>Sous-entite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50">
                          <a:solidFill>
                            <a:srgbClr val="FFFFFF"/>
                          </a:solidFill>
                        </a:rPr>
                        <a:t>Champs specifiques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50">
                          <a:solidFill>
                            <a:srgbClr val="FFFFFF"/>
                          </a:solidFill>
                        </a:rPr>
                        <a:t>Groupe Django associe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PERSONNEL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fonction (ENUM), date_embauche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DIRECTION, ADMINISTRATION, SCOLARITE, FINANCES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ENSEIGNANT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specialite, grade, date_embauche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ENSEIGNANT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ELEVE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matricule (UNIQUE), date_naiss.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ELEVE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PARENT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telephone, profession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PARENT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IV. Signaux Django — Automatisation des Traitements Metier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1612880" cy="3657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161288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post_save sur NOTE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48132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    •  Declenche a chaque creation/modification de NOTE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    •  Recalcule la moyenne de l'eleve pour le cours + periode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39696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    •  Trie toutes les moyennes du cours par ordre decroissant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68879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    •  Attribue les rangs avec bulk_update(["rang"])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962656"/>
            <a:ext cx="11612880" cy="36576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3026663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pre_save sur ANNEE_SCOLAIRE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346703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    •  Intercepte toute activation d'une annee scolaire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675887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    •  Desactive toutes les autres annees en une seule requete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4005072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    •  Garantit l'unicite de l'annee active (RG-T02)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334256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    •  Transparent pour la vue — zero logique en vue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828032"/>
            <a:ext cx="11612880" cy="3657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489204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post_save sur BULLETIN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521208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    •  Envoie une NOTIFICATION a l'eleve concerne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5541264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    •  Envoie une NOTIFICATION a chaque parent lie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587044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    •  type_notif = "bulletin" pour filtrage frontend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199632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</a:rPr>
              <a:t>    •  Aucun appel explicite necessite dans la vue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IV. Bug Identifie &amp; Corrige : bulk_create et signaux Django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3333"/>
                </a:solidFill>
              </a:rPr>
              <a:t>Probleme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7A33"/>
                </a:solidFill>
              </a:rPr>
              <a:t>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81328"/>
            <a:ext cx="11430000" cy="3200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7276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3333"/>
                </a:solidFill>
              </a:rPr>
              <a:t>•  populate_data utilise bulk_create pour la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7276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7A33"/>
                </a:solidFill>
              </a:rPr>
              <a:t>•  groupby(resultats, key=lambda r: r.cours_id)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5681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3333"/>
                </a:solidFill>
              </a:rPr>
              <a:t>•  bulk_create() ne declenche PAS le signal post_save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5681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7A33"/>
                </a:solidFill>
              </a:rPr>
              <a:t>•  enumerate(group, start=1) =&gt; res.rang = rang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34086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3333"/>
                </a:solidFill>
              </a:rPr>
              <a:t>•  Le recalcul des rangs est donc ignore lors de l'import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4086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7A33"/>
                </a:solidFill>
              </a:rPr>
              <a:t>•  ResultatMatiere.objects.bulk_update(lst, ["rang"])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72491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3333"/>
                </a:solidFill>
              </a:rPr>
              <a:t>•  Tous les rangs restent a NULL apres l'initialisation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72491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7A33"/>
                </a:solidFill>
              </a:rPr>
              <a:t>•  Appele explicitement apres chaque bulk_create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1089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3333"/>
                </a:solidFill>
              </a:rPr>
              <a:t>•  Les bulletins affichent "rang : —" au lieu du numero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1089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7A33"/>
                </a:solidFill>
              </a:rPr>
              <a:t>•  Resultat : 840 / 840 rangs calcules, 0 valeur NULL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840480"/>
            <a:ext cx="11612880" cy="6400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977639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1A3A5C"/>
                </a:solidFill>
              </a:rPr>
              <a:t>Leçon : toujours recalculer les agregats apres un bulk_create (signals non declenches)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IV. Controle d'Acces a Deux Niveaux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Double cloisonnement : Vue + Queryset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81328"/>
            <a:ext cx="11430000" cy="3200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554480"/>
          <a:ext cx="116128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b="1" sz="850">
                          <a:solidFill>
                            <a:srgbClr val="FFFFFF"/>
                          </a:solidFill>
                        </a:rPr>
                        <a:t>Niveau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50">
                          <a:solidFill>
                            <a:srgbClr val="FFFFFF"/>
                          </a:solidFill>
                        </a:rPr>
                        <a:t>Mecanisme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50">
                          <a:solidFill>
                            <a:srgbClr val="FFFFFF"/>
                          </a:solidFill>
                        </a:rPr>
                        <a:t>Exemple concret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Vue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@role_required("ENSEIGNANT")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Seuls les membres du groupe ENSEIGNANT peuvent atteindre /enseignant/notes/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Queryset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Cours.objects.filter(enseignant=request.user)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L'enseignant ne voit que ses propres cours dans la liste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Objet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get_object_or_404(Cours, pk=id, enseignant=user)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get_object_or_404 retourne 404 si l'objet appartient a un autre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39319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Redirection intelligente en cas d'acces refuse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4315968"/>
            <a:ext cx="11430000" cy="3200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437083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Au lieu d'une page HTTP 403 generique (incomprehensible pour l'utilisateur), tout acces non autorise affiche un message d'erreur explicite ET redirige vers le dashboard propre au role de l'utilisateur connecte (RG-A03).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5138928"/>
            <a:ext cx="11612880" cy="6400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5257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C5282"/>
                </a:solidFill>
              </a:rPr>
              <a:t>Aucune information sur l'existence de la page n'est divulguee a l'utilisateur non autorise.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IV. Module Messagerie — Recherche Dynamique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3333"/>
                </a:solidFill>
              </a:rPr>
              <a:t>Probleme initial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7A33"/>
                </a:solidFill>
              </a:rPr>
              <a:t>Solution retenue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81328"/>
            <a:ext cx="11430000" cy="3200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Avec des centaines d'utilisateurs, un simple &lt;select&gt; deroulant est impraticable.
La technique style.display="none" sur &lt;option&gt; est non fiable selon les navigateurs.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Injection d'un tableau JSON DEST_DATA dans la page.
Reconstruction dynamique du &lt;select&gt; via JavaScript a chaque frappe.
Aucun rechargement de page. Compatible tous navigateurs.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5146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Filtrage des destinataires par role (RG-MSG03)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880360"/>
            <a:ext cx="11430000" cy="3200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74320" y="2971800"/>
          <a:ext cx="1161288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6440"/>
                <a:gridCol w="5806440"/>
              </a:tblGrid>
              <a:tr h="393192">
                <a:tc>
                  <a:txBody>
                    <a:bodyPr/>
                    <a:lstStyle/>
                    <a:p>
                      <a:pPr algn="ctr"/>
                      <a:r>
                        <a:rPr b="1" sz="850">
                          <a:solidFill>
                            <a:srgbClr val="FFFFFF"/>
                          </a:solidFill>
                        </a:rPr>
                        <a:t>Role expediteur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50">
                          <a:solidFill>
                            <a:srgbClr val="FFFFFF"/>
                          </a:solidFill>
                        </a:rPr>
                        <a:t>Destinataires autorises dans la liste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DIRECTION / ADMIN / SCOLARITE / FINANCES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Tous les utilisateurs actifs du systeme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ENSEIGNANT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Tous les utilisateurs actifs (y compris ELEVE et PARENT)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ELEVE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Personnel administratif et ENSEIGNANT uniquement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PARENT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Personnel administratif et ENSEIGNANT uniquement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5760" y="504748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C5282"/>
                </a:solidFill>
              </a:rPr>
              <a:t>Piece jointe : fichiers PDF uniquement — validation Content-Type cote serveur (Django)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IV. Generation PDF des Bulletins (ReportLab)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502920" cy="4572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20700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161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C5282"/>
                </a:solidFill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80" y="121615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PERIODE.cloturee = True ET PERIODE.date_fin &lt;= date.today()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73352"/>
            <a:ext cx="502920" cy="4572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73736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74650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C5282"/>
                </a:solidFill>
              </a:rPr>
              <a:t>Recuperation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1746504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RESULTAT_MATIERE de l'eleve pour la periode concernee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203704"/>
            <a:ext cx="502920" cy="4572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2267712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27685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C5282"/>
                </a:solidFill>
              </a:rPr>
              <a:t>Moy. generale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276856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Calcul : Somme(moy x coeff) / Somme(coefficients)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734056"/>
            <a:ext cx="502920" cy="4572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2798064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80720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C5282"/>
                </a:solidFill>
              </a:rPr>
              <a:t>Rang classe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280720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Tri decroissant des moyennes generales de tous bulletins classe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264408"/>
            <a:ext cx="502920" cy="4572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3328416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3375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C5282"/>
                </a:solidFill>
              </a:rPr>
              <a:t>Stockage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33375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BULLETIN cree — donnees immutables apres generation (RG-B02)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794760"/>
            <a:ext cx="502920" cy="4572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385876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86791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C5282"/>
                </a:solidFill>
              </a:rPr>
              <a:t>PDF ReportLab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1880" y="386791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Genere en memoire via io.BytesIO — aucun stockage disque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325112"/>
            <a:ext cx="502920" cy="4572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438912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39826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C5282"/>
                </a:solidFill>
              </a:rPr>
              <a:t>Notification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11880" y="4398264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NOTIFICATION automatique vers l'eleve ET chaque parent lie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855464"/>
            <a:ext cx="502920" cy="4572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4919472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92861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C5282"/>
                </a:solidFill>
              </a:rPr>
              <a:t>Reponse HTTP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11880" y="4928616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Content-Type: application/pdf — telechargement immediat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V. Tests Fonctionnels — Resultats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1612880" cy="553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425547">
                <a:tc>
                  <a:txBody>
                    <a:bodyPr/>
                    <a:lstStyle/>
                    <a:p>
                      <a:pPr algn="ctr"/>
                      <a:r>
                        <a:rPr b="1" sz="850">
                          <a:solidFill>
                            <a:srgbClr val="FFFFFF"/>
                          </a:solidFill>
                        </a:rPr>
                        <a:t>Scenario de test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50">
                          <a:solidFill>
                            <a:srgbClr val="FFFFFF"/>
                          </a:solidFill>
                        </a:rPr>
                        <a:t>Resultat attendu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50">
                          <a:solidFill>
                            <a:srgbClr val="FFFFFF"/>
                          </a:solidFill>
                        </a:rPr>
                        <a:t>Statut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425547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Login email + MDP valides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Redirection vers le bon dashboard selon role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5547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Login avec compte desactive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Refus + message d'erreur clair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OK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</a:tr>
              <a:tr h="425547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Acces URL d'un autre role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Message d'erreur + redirect dashboard propre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5547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Saisie note valide (ex : 14.5)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Note enregistree, moyenne et rangs recalcules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OK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</a:tr>
              <a:tr h="425547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Saisie note hors [0 ; 20]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Formulaire rejete, message d'erreur affiché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5547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Saisie note sur periode cloturee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Saisie bloquee avec message explicite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OK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</a:tr>
              <a:tr h="425547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Absence par enseignant titulaire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Statut en_attente, notification eleve/parent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5547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Validation absence par non-titulaire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Acces refuse (get_object_or_404 filtre)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OK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</a:tr>
              <a:tr h="425547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Generation bulletin sans cloture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Action bloquee (verification avant traitement)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5547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Export bilan financier par ELEVE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Acces refuse, redirect dashboard ELEVE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OK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</a:tr>
              <a:tr h="425547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Messagerie ELEVE vers autre ELEVE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Destinataire absent de la liste (filtre role)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5556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Enregistrement paiement par FINANCES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Frais mis a jour, statut recalcule automatiquement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OK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V. Tests d'Integrite — Apres populate_data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C5282"/>
                </a:solidFill>
              </a:rPr>
              <a:t>Commande : python manage.py populate_data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63040"/>
          <a:ext cx="1161288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563880">
                <a:tc>
                  <a:txBody>
                    <a:bodyPr/>
                    <a:lstStyle/>
                    <a:p>
                      <a:pPr algn="ctr"/>
                      <a:r>
                        <a:rPr b="1" sz="850">
                          <a:solidFill>
                            <a:srgbClr val="FFFFFF"/>
                          </a:solidFill>
                        </a:rPr>
                        <a:t>Verification en base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50">
                          <a:solidFill>
                            <a:srgbClr val="FFFFFF"/>
                          </a:solidFill>
                        </a:rPr>
                        <a:t>Valeur attendue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50">
                          <a:solidFill>
                            <a:srgbClr val="FFFFFF"/>
                          </a:solidFill>
                        </a:rPr>
                        <a:t>Valeur obtenue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50">
                          <a:solidFill>
                            <a:srgbClr val="FFFFFF"/>
                          </a:solidFill>
                        </a:rPr>
                        <a:t>Statut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Nombre de RESULTAT_MATIERE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840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840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Avec rang != NULL (calcule)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840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840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OK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Avec rang NULL (bug precedent)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Doublons BULLETIN(eleve, periode)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OK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Doublons numeros de reçu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Violation CHECK valeur [0;20]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Impossible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Impossible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OK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Doublon INSCRIPTION(eleve, annee)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Annees actives simultanement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OK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V. Bilan Quantitatif du Projet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3657600" cy="102412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216152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8013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BF4FF"/>
                </a:solidFill>
              </a:rPr>
              <a:t>Tables BDD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1143000"/>
            <a:ext cx="3657600" cy="102412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0" y="1216152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95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8013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BF4FF"/>
                </a:solidFill>
              </a:rPr>
              <a:t>Attributs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143000"/>
            <a:ext cx="3657600" cy="102412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216152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18013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BF4FF"/>
                </a:solidFill>
              </a:rPr>
              <a:t>Cles FK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331720"/>
            <a:ext cx="3657600" cy="102412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404872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990087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BF4FF"/>
                </a:solidFill>
              </a:rPr>
              <a:t>UNIQUE comp.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2331720"/>
            <a:ext cx="3657600" cy="102412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0" y="2404872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59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2990087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BF4FF"/>
                </a:solidFill>
              </a:rPr>
              <a:t>Regles metier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2331720"/>
            <a:ext cx="3657600" cy="102412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2404872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990087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BF4FF"/>
                </a:solidFill>
              </a:rPr>
              <a:t>Roles users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520440"/>
            <a:ext cx="3657600" cy="102412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3593592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41788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BF4FF"/>
                </a:solidFill>
              </a:rPr>
              <a:t>Apps Django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3520440"/>
            <a:ext cx="3657600" cy="102412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6240" y="3593592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17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41788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BF4FF"/>
                </a:solidFill>
              </a:rPr>
              <a:t>Modules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3520440"/>
            <a:ext cx="3657600" cy="102412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0" y="3593592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840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1788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BF4FF"/>
                </a:solidFill>
              </a:rPr>
              <a:t>Resultats/rangs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VI. Difficultes Rencontrees &amp; Solutions Apportees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16128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850">
                          <a:solidFill>
                            <a:srgbClr val="FFFFFF"/>
                          </a:solidFill>
                        </a:rPr>
                        <a:t>Difficulte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50">
                          <a:solidFill>
                            <a:srgbClr val="FFFFFF"/>
                          </a:solidFill>
                        </a:rPr>
                        <a:t>Cause identifiee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50">
                          <a:solidFill>
                            <a:srgbClr val="FFFFFF"/>
                          </a:solidFill>
                        </a:rPr>
                        <a:t>Solution adoptee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Rangs NULL apres import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bulk_create() ne declenche pas post_save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Appel explicite de bulk_update(["rang"]) avec groupby apres chaque bulk_create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Select destinataire bug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style.display="none" sur &lt;option&gt; non fiable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Reconstruction dynamique du DOM via JS (tableau DEST_DATA JSON)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HTTP 403 brut pour utilisateurs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role_required redirige vers page 403 generique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_redirect_to_dashboard() avec message d'erreur explicite par role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Mauvaise sidebar pour ENSEIGNANT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Template heritait de base_personnel.html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Template dedie base_enseignant.html cree pour les annonces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Liens dashboard inactifs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Cartes accessibles sans filtrage de role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</a:rPr>
                        <a:t>Verifications {% if "ROLE" in groupes_user %} dans les templates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50749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Leçons apprises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5440680"/>
            <a:ext cx="11430000" cy="3200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548640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7A33"/>
                </a:solidFill>
              </a:rPr>
              <a:t>✔  Le cloisonnement doit etre double : niveau VUE et niveau QUERYSET
✔  Tester bulk_create separement car les signaux Django ne sont pas declenches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VI. Conclusion &amp; Perspectives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Bilan du projet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81328"/>
            <a:ext cx="11430000" cy="3200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7276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7A33"/>
                </a:solidFill>
              </a:rPr>
              <a:t>✔  Systeme d'information scolaire complet et operationnel — 17 modules livres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5681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7A33"/>
                </a:solidFill>
              </a:rPr>
              <a:t>✔  Architecture Django/MariaDB robuste en 3FN — 38 FK, 12 contraintes UNIQUE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40864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7A33"/>
                </a:solidFill>
              </a:rPr>
              <a:t>✔  Controle d'acces strict par 7 roles — aucun acces croise possible en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2491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7A33"/>
                </a:solidFill>
              </a:rPr>
              <a:t>✔  Automatisation totale : moyennes, rangs, bulletins, notifications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00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Court terme (3-6 mois)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200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Long terme (&gt; 18 mois)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566160"/>
            <a:ext cx="11430000" cy="3200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657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•  Import CSV/Excel listes et notes historiques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657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•  API REST + application mobile iOS/Android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05993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•  Tests unitaires automatises (pytest-django)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05993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•  Notifications push temps reel (WebSockets)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4622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•  Audit accessibilite WCAG 2.1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4622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</a:rPr>
              <a:t>•  Architecture multi-etablissements (cloud)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0D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68496"/>
            <a:ext cx="12191695" cy="10972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Merci pour votre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BDD7F5"/>
                </a:solidFill>
              </a:rPr>
              <a:t>ACADEMIQ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429000"/>
            <a:ext cx="11430000" cy="3200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5204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BC1E8"/>
                </a:solidFill>
              </a:rPr>
              <a:t>Questions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FA8CC"/>
                </a:solidFill>
              </a:rPr>
              <a:t>MARIKO Lamine  |  CI0223065023  |  M1 Genie Informatique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FA8CC"/>
                </a:solidFill>
              </a:rPr>
              <a:t>Universite Nangui Abrogoua  |  Juin 2026  |  Encadreur : Dr. ZEZE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